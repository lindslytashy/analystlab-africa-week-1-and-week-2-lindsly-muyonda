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7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CB595-4875-4CF5-BB76-BC17319477DD}" type="datetimeFigureOut">
              <a:rPr lang="en-ZW" smtClean="0"/>
              <a:t>28/6/2026</a:t>
            </a:fld>
            <a:endParaRPr lang="en-Z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A71CF-A5B6-463A-86E3-BBEC6C3FA9B8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7565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1: TITLE
Good [morning/afternoon], everyone. My name is [Your Name], and I am a Batch B intern at AnalystLab Africa.
This presentation showcases my Week 4 project — a complete interactive Sales Dashboard built using Microsoft Power BI, based on the Superstore Sales dataset from Kaggle.
As you can see on this slide, I have already summarised the 4 most important KPIs from the dashboard:
• Total Revenue of $2.30 million
• Total Profit of $286 thousand
• 5,009 unique orders
• A Profit Margin of 12.5%
In the next slides, I will walk you through the dataset, the business questions I answered, the dashboard I built, and the key insights and recommendations I discovered.
Let's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2: DATASET OVERVIEW
The dataset I used is the Superstore Sales dataset, downloaded for free from Kaggle.
It contains 9,994 rows of order data from a fictional US-based retail store, covering 4 years from 2014 to 2017. There are 21 columns in total.
The most important columns I used in my analysis were:
• Sales — the revenue earned from each order
• Profit — how much money was actually made after costs
• Category and Sub-Category — to understand which products perform best
• Region and State — for geographic analysis
• Order Date — to track trends over time
• Customer Segment — Consumer, Corporate, or Home Office
I loaded this data into Power BI Desktop, cleaned the column data types in Power Query Editor, and created 5 custom DAX measures to calculate KPIs.
The dataset gave me everything I needed to answer real business questions about sales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3: BUSINESS PROBLEM
Before building the dashboard, I defined clear business questions that the data needed to answer. This is an important step because dashboards should answer specific questions, not just display random charts.
The 6 key questions I focused on were:
1. Which region is most profitable? — Understanding geographic performance helps management allocate resources.
2. Which product categories drive the most revenue? — Technology, Furniture, and Office Supplies each contribute differently.
3. Are there products losing money? — Some items may have high sales but negative profit due to discounting.
4. What are the sales trends over time? — Identifying seasonal patterns helps plan promotions and inventory.
5. Which customer segment is most valuable? — Consumer, Corporate, and Home Office customers behave differently.
6. What recommendations can be made? — The final goal is actionable insights, not just charts.
My dashboard was built specifically to answer all 6 of these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4: KPIs DEFINED
KPIs, or Key Performance Indicators, are the most important numbers a business tracks. In Power BI, I created these using DAX formulas — which are custom calculations written in the formula bar.
Here are the 5 KPIs I built and what they tell us:
1. Total Revenue = $2,297,201
   This is the total sales amount across all orders. I calculated it using SUM of the Sales column.
2. Total Profit = $286,397
   This is the actual money earned after costs. I used SUM of the Profit column.
3. Total Orders = 5,009
   This counts unique orders using DISTINCTCOUNT on Order ID — this avoids counting the same order twice.
4. Profit Margin = 12.47%
   This shows what percentage of revenue becomes profit. I used the DIVIDE function: Total Profit divided by Total Revenue.
5. Total Quantity = 37,873
   Total units sold across all orders, calculated using SUM of the Quantity column.
All 5 of these measures appear as KPI cards at the top of my dashboard pages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5: DASHBOARD PAGE 1 (SALES OVERVIEW)
IMPORTANT: Before presenting, replace the placeholder box on this slide with a screenshot of your actual Power BI dashboard Page 1.
To take a screenshot: Press Windows + Shift + S, select the dashboard, paste into Paint, save as PNG, then insert into this slide.
--- WHAT TO SAY WHEN PRESENTING ---
This is the first page of my Power BI dashboard — the Sales Overview page.
At the top, you can see 4 KPI cards showing the most important business metrics at a glance: Total Revenue, Total Profit, Total Orders, and Profit Margin.
Below the KPI cards, I have 3 main charts:
• A bar chart showing Sales by Product Category — Technology leads with the highest revenue
• A line chart showing Monthly Sales Trends — you can see sales peak in November and December
• A donut chart showing Sales by Region — the West region has the largest share
On the side, I have 3 interactive slicers: Year, Region, and Category. When a user clicks any of these, all charts on the page update automatically — this is what makes the dashboard interactive.
For example, if I click '2017' on the year slicer, all charts filter to show only 2017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6: DASHBOARD PAGES 2 &amp; 3
IMPORTANT: Replace the two placeholder boxes with screenshots of your actual Pages 2 and 3 from Power BI.
--- WHAT TO SAY WHEN PRESENTING ---
PAGE 2 — Product &amp; Customer Analysis:
This page focuses on understanding which products and customers drive the business.
• The top bar chart shows the Top 10 Sub-Categories by revenue
• The scatter plot compares Sales vs Profit for each sub-category — allowing us to spot products with high sales but low profit
• The segment bar chart shows Consumer customers generate the most revenue
• The table at the bottom lists the Top 10 customers by revenue
PAGE 3 — Geographic &amp; Profit Analysis:
This page focuses on WHERE profit comes from and which products make or lose money.
• The filled map of the USA shows which states generate the most sales — California and New York stand out
• The region bar chart confirms the West region leads in profit
• The sub-category profit chart reveals that Tables and Bookcases have NEGATIVE profit
• The monthly profit trend line shows profit growing steadily over the years
All 3 pages share the same slicers, so filtering by year or region updates everything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6: DASHBOARD PAGES 2 &amp; 3
IMPORTANT: Replace the two placeholder boxes with screenshots of your actual Pages 2 and 3 from Power BI.
--- WHAT TO SAY WHEN PRESENTING ---
PAGE 2 — Product &amp; Customer Analysis:
This page focuses on understanding which products and customers drive the business.
• The top bar chart shows the Top 10 Sub-Categories by revenue
• The scatter plot compares Sales vs Profit for each sub-category — allowing us to spot products with high sales but low profit
• The segment bar chart shows Consumer customers generate the most revenue
• The table at the bottom lists the Top 10 customers by revenue
PAGE 3 — Geographic &amp; Profit Analysis:
This page focuses on WHERE profit comes from and which products make or lose money.
• The filled map of the USA shows which states generate the most sales — California and New York stand out
• The region bar chart confirms the West region leads in profit
• The sub-category profit chart reveals that Tables and Bookcases have NEGATIVE profit
• The monthly profit trend line shows profit growing steadily over the years
All 3 pages share the same slicers, so filtering by year or region updates everything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7: KEY INSIGHTS
This is the most important slide in the presentation. Here I explain what the data actually MEANS for the business — not just what the charts look like.
Walk through each insight:
INSIGHT 1 — West Region Leads in Profit:
The West region consistently outperforms other regions in profitability. Management should invest more in this region to maximize returns.
INSIGHT 2 — Technology is the Top Category:
Technology products generate the most revenue ($836K) AND have the healthiest profit margins. This is the most valuable product category for the business.
INSIGHT 3 — Tables Sub-Category Loses Money:
Despite selling a significant number of tables, the business is actually losing money on them. The main reason is deep discounts being applied — sometimes 40-50% off — which wipes out all profit.
INSIGHT 4 — Sales Peak in November and December:
Every year, sales spike in Q4. This suggests strong holiday/end-of-year purchasing patterns. The business should stock up inventory and run campaigns before November.
INSIGHT 5 — Consumers Drive Revenue:
Over 50% of all sales come from Consumer segment customers. Retention strategies for consumers should be a top priority.
INSIGHT 6 — High Discounts Hurt Profit:
The scatter plot clearly shows that sub-categories with high discounts have the lowest profit margins. A discount policy review is urgently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8: RECOMMENDATIONS &amp; CONCLUSION
Based on all the insights discovered from the data, here are 4 clear business recommendations:
RECOMMENDATION 1 — Cap Discounts at 20%:
The data clearly shows that sub-categories with high discounts (especially Tables) are losing money. I recommend setting a company-wide maximum discount policy of 20% to protect profit margins.
RECOMMENDATION 2 — Invest More in Technology:
Technology is the star category — high revenue AND high margins. The business should expand the Technology product range and increase inventory to capture more market share.
RECOMMENDATION 3 — Focus on the West Region:
The West region is the most profitable. By allocating more budget, staff, and marketing to the West, the business can maximize returns on its best-performing territory.
RECOMMENDATION 4 — Run Q1 and Q2 Promotions:
Sales are slow in the first half of the year. Strategic promotions in January through June can help smooth out seasonal revenue gaps and maintain consistent cash flow.
--- CONCLUSION ---
To conclude, this project taught me how to use Microsoft Power BI to transform a raw CSV dataset into a 3-page interactive dashboard with KPI cards, bar charts, line charts, maps, and interactive slicers.
Most importantly, I learned that data visualization is not just about making charts — it is about telling a story that helps business leaders make better decisions.
Thank you for your attention. I am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 err="1" smtClean="0">
                <a:solidFill>
                  <a:srgbClr val="A0C4D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Lindsly</a:t>
            </a:r>
            <a:r>
              <a:rPr lang="en-US" sz="1600" dirty="0" smtClean="0">
                <a:solidFill>
                  <a:srgbClr val="A0C4D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A0C4D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Tashinga</a:t>
            </a:r>
            <a:r>
              <a:rPr lang="en-US" sz="1600" dirty="0" smtClean="0">
                <a:solidFill>
                  <a:srgbClr val="A0C4D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A0C4D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Muyonda</a:t>
            </a:r>
            <a:endParaRPr lang="en-US" sz="1600" dirty="0" smtClean="0">
              <a:solidFill>
                <a:srgbClr val="A0C4D8"/>
              </a:solidFill>
              <a:latin typeface="Bahnschrift Condensed" panose="020B0502040204020203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600" dirty="0" smtClean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6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Internship — Week 4 | AnalystLab Africa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9488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3108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9488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108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9488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3108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9488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Microsoft Power BI  |  Dataset: Superstore Sales (Kaggle)  |  June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9,994 total order rows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Data spans 2014 – 2017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5511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 21 columns of information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0266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1 retail company (US-based)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5021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Source: Kaggle (Superstore)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 Tool: Microsoft Power BI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E8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600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earned per order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20756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07568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after costs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5511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55117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/ Office / Tech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0266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0266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East, West, Central, South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35021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50215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each purchase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/ Corporate /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 |  Power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questions did I set out to answer?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7218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721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generates the most profit and which region underperforms?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02536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57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and sub-categories drive the most revenue?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426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64261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products that are losing money despite high sales volume?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8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278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2783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seasonal sales and profit trends over the 4-year period?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130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8130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 (Consumer, Corporate, Home Office) is most valuable?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39826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3982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recommendations can management take to improve overall profitability?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 |  Power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Defined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measured using DAX formulas in Power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56032" cy="1325880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17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6733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$2,297,201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20756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money earned from all 9,994 orders combined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256032" cy="1325880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417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47872" y="16733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$286,397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47872" y="20756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earnings after deducting all product costs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256032" cy="1325880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417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16733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0756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orders placed between 2014 and 2017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256032" cy="1325880"/>
          </a:xfrm>
          <a:prstGeom prst="roundRect">
            <a:avLst>
              <a:gd name="adj" fmla="val 21429"/>
            </a:avLst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29260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1821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" y="35844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revenue that becomes actual profit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56032" cy="1325880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3547872" y="29260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47872" y="31821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37,873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47872" y="35844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individual product units sold across all orders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 |  Power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1: Sales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PASTE YOUR POWER BI SCREENSHOT HERE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Sales Overview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KPI Cards + Bar Chart + Line Chart + Donut Chart + Slicers)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21408" y="45720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121408" y="4572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5616" y="45720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85616" y="4572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9824" y="45720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49824" y="4572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14032" y="45720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114032" y="4572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Slicers</a:t>
            </a:r>
            <a:endParaRPr lang="en-US" sz="1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925"/>
            <a:ext cx="914400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Pages 2 &amp;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PASTE PAGE 2 SCREENSHOT HERE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Customer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 + Scatter + Segment + Table)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Product &amp; Customer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25400">
            <a:solidFill>
              <a:srgbClr val="818CF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3440" y="9601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PASTE PAGE 3 SCREENSHOT HERE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Profit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 + Region Profit + Sub-Cat + Trend)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Geographic &amp; Profit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pages are interactive — slicers filter every chart in real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 |  Power BI Dashboard</a:t>
            </a:r>
            <a:endParaRPr lang="en-US" sz="9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28588"/>
            <a:ext cx="862965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Pages 2 &amp;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PASTE PAGE 2 SCREENSHOT HERE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Customer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 + Scatter + Segment + Table)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Product &amp; Customer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PASTE PAGE 3 SCREENSHOT HERE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Profit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 + Region Profit + Sub-Cat + Trend)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Geographic &amp; Profit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pages are interactive — slicers filter every chart in real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 |  Power BI Dashboard</a:t>
            </a:r>
            <a:endParaRPr lang="en-US" sz="9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1" y="101229"/>
            <a:ext cx="8607669" cy="4699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716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about the Superstore business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7"/>
            <a:ext cx="4069080" cy="1180983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3898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 in Profit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737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generates the highest profit, making it the most valuable territory for the business</a:t>
            </a: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50" dirty="0"/>
              <a:t> This is because customers in the West purchase more high-value products and fewer heavy discounts are applied there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89888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21808" y="13898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Top 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21808" y="1737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highest revenue ($836K) with the best profit margins among all 3 product categories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.</a:t>
            </a:r>
            <a:r>
              <a:rPr lang="en-US" sz="1050" dirty="0"/>
              <a:t> Products like Phones, Copiers, and Accessories sell at healthy prices without requiring the deep discounts that damage profitability in other categories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51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Sub-Category Loses Money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815" y="2999232"/>
            <a:ext cx="367518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negative profit despite significant sales — excessive discounting is erasing all </a:t>
            </a: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profitability.</a:t>
            </a:r>
            <a:r>
              <a:rPr lang="en-US" sz="1050" dirty="0"/>
              <a:t> The root cause is excessive discounting. </a:t>
            </a:r>
            <a:r>
              <a:rPr lang="en-US" sz="1050" dirty="0" smtClean="0"/>
              <a:t>Corporate </a:t>
            </a:r>
            <a:r>
              <a:rPr lang="en-US" sz="1050" dirty="0"/>
              <a:t>customers place larger individual orders, meaning even a small number of Corporate clients can significantly impact revenue.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633472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21808" y="2651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Nov–Dec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21808" y="29992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quarter (Q4) shows the highest sales volume every year, driven by end-of-year and holiday demand</a:t>
            </a: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50" dirty="0"/>
              <a:t> This is driven by end-of-year company budgets being spent and holiday season purchasing across all customer segments.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24128" y="39136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Drive Revenue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2611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segment accounts for over 50% of total sales, making it the most important customer group</a:t>
            </a: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50" dirty="0"/>
              <a:t> C</a:t>
            </a:r>
            <a:r>
              <a:rPr lang="en-US" sz="1050" dirty="0" smtClean="0"/>
              <a:t>orporate </a:t>
            </a:r>
            <a:r>
              <a:rPr lang="en-US" sz="1050" dirty="0"/>
              <a:t>customers place larger individual orders, meaning even a small number of Corporate clients can significantly impact revenue.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822192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21808" y="39136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Discounts Hurt Profit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21808" y="42611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 with discounts above 30% consistently show low or negative profit margins</a:t>
            </a: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50" dirty="0"/>
              <a:t> When discounts exceed 30 to 40 percent, the selling price often drops below what it costs the business to source and deliver the product.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 |  Power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87552"/>
            <a:ext cx="594360" cy="822960"/>
          </a:xfrm>
          <a:prstGeom prst="roundRect">
            <a:avLst>
              <a:gd name="adj" fmla="val 12308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060704"/>
            <a:ext cx="7360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20% Maximum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7360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reduce discounts on Tables and Bookcases. These sub-categories should never exceed 20% discount to stay profitable.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0" cy="8229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3852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7360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More in Technology Products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322576"/>
            <a:ext cx="7360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has the highest revenue AND best margins. Increasing the product range and stock in this category will boost profit.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89504"/>
            <a:ext cx="594360" cy="822960"/>
          </a:xfrm>
          <a:prstGeom prst="roundRect">
            <a:avLst>
              <a:gd name="adj" fmla="val 12308"/>
            </a:avLst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950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962656"/>
            <a:ext cx="7360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the West Region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273552"/>
            <a:ext cx="7360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leads in profitability. Allocate more sales resources, marketing budget, and inventory to this region.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840480"/>
            <a:ext cx="594360" cy="8229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913632"/>
            <a:ext cx="7360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Q1 &amp; Q2 Promotions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224528"/>
            <a:ext cx="7360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slow significantly in January–June. Targeted promotions in these months can help smooth out seasonal revenue gaps.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transformed raw Superstore data into clear, actionable business insights 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1029</Words>
  <Application>Microsoft Office PowerPoint</Application>
  <PresentationFormat>On-screen Show (16:9)</PresentationFormat>
  <Paragraphs>159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</dc:title>
  <dc:subject>PptxGenJS Presentation</dc:subject>
  <dc:creator>AnalystLab Africa Intern</dc:creator>
  <cp:lastModifiedBy>John Smith</cp:lastModifiedBy>
  <cp:revision>4</cp:revision>
  <dcterms:created xsi:type="dcterms:W3CDTF">2026-06-28T13:29:40Z</dcterms:created>
  <dcterms:modified xsi:type="dcterms:W3CDTF">2026-06-28T13:59:25Z</dcterms:modified>
</cp:coreProperties>
</file>